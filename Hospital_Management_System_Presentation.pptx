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953AD5-D876-4D91-99AB-82AB69DADA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CD07F9-697C-4B56-8965-E98F2AEF60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4ED5F99-7CEB-4800-AAD9-2E46E57E7D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FA54512-C8E4-4548-8921-2075710050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3EBDB34-2132-4040-97B8-1192183902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A69B3DF-99A2-4822-AF9C-76FAB28BDC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AD1628B-D786-48BF-B454-BEF4AE4BC3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7307186-5541-4A6E-B589-EFD9E5B589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392ED69-2933-4E56-85C1-0381A5D81F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E1CF83A-63BB-4C4E-9986-F959143FBD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1A8BEB5-2255-4346-ACEB-864AAD75BA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3796C83-CDEE-43F4-AE4D-EC8EF31C23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9FAC78-1B95-42A7-AB4E-E51CBE8852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2A6BCE-DBAD-4969-A04F-CB5A0128B93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E00F89F-4F96-4E04-8C11-99D087D1F3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56D827-01BC-4A3D-AA71-FDC5D6DC12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3C83BE-48B7-4E73-B1DA-735C7F1E5E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7AFD44-DEE9-4F5B-8DE1-50C7707BA9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A5FFB1-BE32-4001-9256-0BCBC70B74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4261B9-9126-4F38-8BB6-7C44F990F4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6876AD-8A0A-4E3E-ABBE-8DAE42CA44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643BBE4-C6E7-4F8A-B912-1CE032DAE1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Oval 2"/>
          <p:cNvSpPr/>
          <p:nvPr/>
        </p:nvSpPr>
        <p:spPr>
          <a:xfrm>
            <a:off x="8915400" y="-685800"/>
            <a:ext cx="3931200" cy="3931200"/>
          </a:xfrm>
          <a:prstGeom prst="ellipse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Oval 3"/>
          <p:cNvSpPr/>
          <p:nvPr/>
        </p:nvSpPr>
        <p:spPr>
          <a:xfrm>
            <a:off x="9784080" y="4251960"/>
            <a:ext cx="2742480" cy="274248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822960" y="822960"/>
            <a:ext cx="7954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eeb84b"/>
                </a:solidFill>
                <a:latin typeface="Aptos"/>
              </a:rPr>
              <a:t>OBJECT ORIENTED PROGRAMMING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822960" y="1508760"/>
            <a:ext cx="79545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Aptos"/>
              </a:rPr>
              <a:t>Hospital Management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3600" spc="-1" strike="noStrike">
                <a:solidFill>
                  <a:srgbClr val="ffffff"/>
                </a:solidFill>
                <a:latin typeface="Aptos"/>
              </a:rPr>
              <a:t>System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868680" y="2971800"/>
            <a:ext cx="6857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2000" spc="-1" strike="noStrike">
                <a:solidFill>
                  <a:srgbClr val="dbe9f6"/>
                </a:solidFill>
                <a:latin typeface="Aptos"/>
              </a:rPr>
              <a:t>C++ project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868680" y="3703320"/>
            <a:ext cx="68572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900" spc="-1" strike="noStrike">
                <a:solidFill>
                  <a:srgbClr val="ffffff"/>
                </a:solidFill>
                <a:latin typeface="Aptos"/>
              </a:rPr>
              <a:t>Presented by: Parth Shah (25EC464)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ounded Rectangle 8"/>
          <p:cNvSpPr/>
          <p:nvPr/>
        </p:nvSpPr>
        <p:spPr>
          <a:xfrm>
            <a:off x="868680" y="4617720"/>
            <a:ext cx="6948720" cy="1233720"/>
          </a:xfrm>
          <a:prstGeom prst="roundRect">
            <a:avLst>
              <a:gd name="adj" fmla="val 16667"/>
            </a:avLst>
          </a:prstGeom>
          <a:solidFill>
            <a:srgbClr val="162b48"/>
          </a:solidFill>
          <a:ln w="15875">
            <a:solidFill>
              <a:srgbClr val="6e8f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Lab In Charge:- Prof. Mayur Sevak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Teacher In Charge:- Prof. Sherin Mariam Jijo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9"/>
          <p:cNvSpPr/>
          <p:nvPr/>
        </p:nvSpPr>
        <p:spPr>
          <a:xfrm>
            <a:off x="1078920" y="4800600"/>
            <a:ext cx="649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Aptos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14400" y="6263640"/>
            <a:ext cx="7314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ffffff"/>
                </a:solidFill>
                <a:latin typeface="Aptos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640080" y="320040"/>
            <a:ext cx="10880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800" spc="-1" strike="noStrike">
                <a:solidFill>
                  <a:srgbClr val="162b48"/>
                </a:solidFill>
                <a:latin typeface="Aptos"/>
              </a:rPr>
              <a:t>Project Introduction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 2"/>
          <p:cNvSpPr/>
          <p:nvPr/>
        </p:nvSpPr>
        <p:spPr>
          <a:xfrm>
            <a:off x="658440" y="932760"/>
            <a:ext cx="822240" cy="5400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658440" y="1051560"/>
            <a:ext cx="1078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5f6d7c"/>
                </a:solidFill>
                <a:latin typeface="Aptos"/>
              </a:rPr>
              <a:t>A simple console application for tracking patient beds and occupancy.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11201400" y="6473880"/>
            <a:ext cx="410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5f6d7c"/>
                </a:solidFill>
                <a:latin typeface="Aptos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731520" y="1645920"/>
            <a:ext cx="5302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200" spc="-1" strike="noStrike">
                <a:solidFill>
                  <a:srgbClr val="162b48"/>
                </a:solidFill>
                <a:latin typeface="Aptos"/>
              </a:rPr>
              <a:t>What the system does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777240" y="2194560"/>
            <a:ext cx="5119920" cy="33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c3744"/>
                </a:solidFill>
                <a:latin typeface="Aptos"/>
              </a:rPr>
              <a:t>Stores patient details in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c3744"/>
                </a:solidFill>
                <a:latin typeface="Aptos"/>
              </a:rPr>
              <a:t>Tracks occupied and free bed slots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c3744"/>
                </a:solidFill>
                <a:latin typeface="Aptos"/>
              </a:rPr>
              <a:t>Supports admission, discharge and patient lookup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c3744"/>
                </a:solidFill>
                <a:latin typeface="Aptos"/>
              </a:rPr>
              <a:t>Calculates facility-wise and hospital-wide totals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c3744"/>
                </a:solidFill>
                <a:latin typeface="Aptos"/>
              </a:rPr>
              <a:t>Details of the patient including the ailment and doctor assigned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ounded Rectangle 7"/>
          <p:cNvSpPr/>
          <p:nvPr/>
        </p:nvSpPr>
        <p:spPr>
          <a:xfrm>
            <a:off x="6217920" y="1737360"/>
            <a:ext cx="1645200" cy="182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Rectangle 8"/>
          <p:cNvSpPr/>
          <p:nvPr/>
        </p:nvSpPr>
        <p:spPr>
          <a:xfrm>
            <a:off x="6217920" y="1783080"/>
            <a:ext cx="72360" cy="1736640"/>
          </a:xfrm>
          <a:prstGeom prst="rect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6419160" y="1901880"/>
            <a:ext cx="126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OPD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419160" y="2304360"/>
            <a:ext cx="12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500" spc="-1" strike="noStrike">
                <a:solidFill>
                  <a:srgbClr val="2c3744"/>
                </a:solidFill>
                <a:latin typeface="Aptos"/>
              </a:rPr>
              <a:t>10 bed slots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ounded Rectangle 11"/>
          <p:cNvSpPr/>
          <p:nvPr/>
        </p:nvSpPr>
        <p:spPr>
          <a:xfrm>
            <a:off x="8092440" y="1737360"/>
            <a:ext cx="1645200" cy="182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8092440" y="1783080"/>
            <a:ext cx="72360" cy="173664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8293680" y="1901880"/>
            <a:ext cx="126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ICU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14"/>
          <p:cNvSpPr/>
          <p:nvPr/>
        </p:nvSpPr>
        <p:spPr>
          <a:xfrm>
            <a:off x="8293680" y="2304360"/>
            <a:ext cx="12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500" spc="-1" strike="noStrike">
                <a:solidFill>
                  <a:srgbClr val="2c3744"/>
                </a:solidFill>
                <a:latin typeface="Aptos"/>
              </a:rPr>
              <a:t>10 beds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ounded Rectangle 15"/>
          <p:cNvSpPr/>
          <p:nvPr/>
        </p:nvSpPr>
        <p:spPr>
          <a:xfrm>
            <a:off x="9966960" y="1737360"/>
            <a:ext cx="1645200" cy="182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16"/>
          <p:cNvSpPr/>
          <p:nvPr/>
        </p:nvSpPr>
        <p:spPr>
          <a:xfrm>
            <a:off x="9966960" y="1783080"/>
            <a:ext cx="72360" cy="1736640"/>
          </a:xfrm>
          <a:prstGeom prst="rect">
            <a:avLst/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7"/>
          <p:cNvSpPr/>
          <p:nvPr/>
        </p:nvSpPr>
        <p:spPr>
          <a:xfrm>
            <a:off x="10168200" y="1901880"/>
            <a:ext cx="1261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600" spc="-1" strike="noStrike">
                <a:solidFill>
                  <a:srgbClr val="162b48"/>
                </a:solidFill>
                <a:latin typeface="Aptos"/>
              </a:rPr>
              <a:t>General Ward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8"/>
          <p:cNvSpPr/>
          <p:nvPr/>
        </p:nvSpPr>
        <p:spPr>
          <a:xfrm>
            <a:off x="10168200" y="2304360"/>
            <a:ext cx="12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500" spc="-1" strike="noStrike">
                <a:solidFill>
                  <a:srgbClr val="2c3744"/>
                </a:solidFill>
                <a:latin typeface="Aptos"/>
              </a:rPr>
              <a:t>20 beds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9"/>
          <p:cNvSpPr/>
          <p:nvPr/>
        </p:nvSpPr>
        <p:spPr>
          <a:xfrm>
            <a:off x="6355080" y="3977640"/>
            <a:ext cx="52113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100" spc="-1" strike="noStrike">
                <a:solidFill>
                  <a:srgbClr val="162b48"/>
                </a:solidFill>
                <a:latin typeface="Aptos"/>
              </a:rPr>
              <a:t>Total capacity: 40 bed slots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20"/>
          <p:cNvSpPr/>
          <p:nvPr/>
        </p:nvSpPr>
        <p:spPr>
          <a:xfrm>
            <a:off x="6400800" y="4617720"/>
            <a:ext cx="5028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5f6d7c"/>
                </a:solidFill>
                <a:latin typeface="Aptos"/>
              </a:rPr>
              <a:t>The program begins with 7 dummy patients already assigned to beds.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640080" y="320040"/>
            <a:ext cx="10880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800" spc="-1" strike="noStrike">
                <a:solidFill>
                  <a:srgbClr val="162b48"/>
                </a:solidFill>
                <a:latin typeface="Aptos"/>
              </a:rPr>
              <a:t>Initial Dummy Patient Records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658440" y="932760"/>
            <a:ext cx="822240" cy="5400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658440" y="1051560"/>
            <a:ext cx="1078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5f6d7c"/>
                </a:solidFill>
                <a:latin typeface="Aptos"/>
              </a:rPr>
              <a:t>Fictional records are loaded when the Hospital object is created.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11201400" y="6473880"/>
            <a:ext cx="410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5f6d7c"/>
                </a:solidFill>
                <a:latin typeface="Aptos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4" name="Table 5"/>
          <p:cNvGraphicFramePr/>
          <p:nvPr/>
        </p:nvGraphicFramePr>
        <p:xfrm>
          <a:off x="685800" y="1600200"/>
          <a:ext cx="10835280" cy="397728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143000"/>
                <a:gridCol w="2194560"/>
                <a:gridCol w="4754880"/>
              </a:tblGrid>
              <a:tr h="497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Facility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b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b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Patient ID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b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b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b48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OPD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101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Rahul Sharma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Fever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OPD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102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Priya Patel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Migraine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ICU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201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Amit Verma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Cardiac observation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ICU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202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Neha Joshi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Respiratory observation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General Ward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301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Karan Singh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Fracture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General Ward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302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Anjali Desai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Postoperative recovery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f6"/>
                    </a:solidFill>
                  </a:tcPr>
                </a:tc>
              </a:tr>
              <a:tr h="497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General Ward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303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Vikram Patel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c3744"/>
                          </a:solidFill>
                          <a:latin typeface="Calibri"/>
                        </a:rPr>
                        <a:t>Pneumonia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TextBox 6"/>
          <p:cNvSpPr/>
          <p:nvPr/>
        </p:nvSpPr>
        <p:spPr>
          <a:xfrm>
            <a:off x="822960" y="5806440"/>
            <a:ext cx="1051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Initial status: 7 occupied • 33 free • 40 total bed slots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640080" y="320040"/>
            <a:ext cx="10880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800" spc="-1" strike="noStrike">
                <a:solidFill>
                  <a:srgbClr val="162b48"/>
                </a:solidFill>
                <a:latin typeface="Aptos"/>
              </a:rPr>
              <a:t>Class Structure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658440" y="932760"/>
            <a:ext cx="822240" cy="5400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658440" y="1051560"/>
            <a:ext cx="1078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5f6d7c"/>
                </a:solidFill>
                <a:latin typeface="Aptos"/>
              </a:rPr>
              <a:t>Object-oriented design separates patient data from hospital operations.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11201400" y="6473880"/>
            <a:ext cx="410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5f6d7c"/>
                </a:solidFill>
                <a:latin typeface="Aptos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5"/>
          <p:cNvSpPr/>
          <p:nvPr/>
        </p:nvSpPr>
        <p:spPr>
          <a:xfrm>
            <a:off x="777240" y="1691640"/>
            <a:ext cx="5165640" cy="415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6"/>
          <p:cNvSpPr/>
          <p:nvPr/>
        </p:nvSpPr>
        <p:spPr>
          <a:xfrm>
            <a:off x="777240" y="1737360"/>
            <a:ext cx="72360" cy="4068360"/>
          </a:xfrm>
          <a:prstGeom prst="rect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7"/>
          <p:cNvSpPr/>
          <p:nvPr/>
        </p:nvSpPr>
        <p:spPr>
          <a:xfrm>
            <a:off x="978480" y="1856160"/>
            <a:ext cx="4781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200" spc="-1" strike="noStrike">
                <a:solidFill>
                  <a:srgbClr val="162b48"/>
                </a:solidFill>
                <a:latin typeface="Aptos"/>
              </a:rPr>
              <a:t>Patient class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978480" y="2258640"/>
            <a:ext cx="478152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Represents one patient/bed record.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Attributes: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patientID, name, age, gender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disease, doctor, admissionDate, contact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bedNumber, occupied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Constructor initializes fields; occupied = 0 means free, 1 means occupied.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9"/>
          <p:cNvSpPr/>
          <p:nvPr/>
        </p:nvSpPr>
        <p:spPr>
          <a:xfrm>
            <a:off x="6263640" y="1691640"/>
            <a:ext cx="5165640" cy="415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10"/>
          <p:cNvSpPr/>
          <p:nvPr/>
        </p:nvSpPr>
        <p:spPr>
          <a:xfrm>
            <a:off x="6263640" y="1737360"/>
            <a:ext cx="72360" cy="406836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6464880" y="1856160"/>
            <a:ext cx="4781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200" spc="-1" strike="noStrike">
                <a:solidFill>
                  <a:srgbClr val="162b48"/>
                </a:solidFill>
                <a:latin typeface="Aptos"/>
              </a:rPr>
              <a:t>Hospital class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6464880" y="2258640"/>
            <a:ext cx="4781520" cy="30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Manages the three facility arrays: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opd[10]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icu[10]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general[20]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Main methods: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admitPatient() / dischargePatient()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findPatient() / searchPatient()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patientSummary() / displayBeds()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hospitalSummary() / menu()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Constructor loads the dummy records.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640080" y="320040"/>
            <a:ext cx="10880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800" spc="-1" strike="noStrike">
                <a:solidFill>
                  <a:srgbClr val="162b48"/>
                </a:solidFill>
                <a:latin typeface="Aptos"/>
              </a:rPr>
              <a:t>Data Storage &amp; Bed Status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658440" y="932760"/>
            <a:ext cx="822240" cy="5400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658440" y="1051560"/>
            <a:ext cx="1078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5f6d7c"/>
                </a:solidFill>
                <a:latin typeface="Aptos"/>
              </a:rPr>
              <a:t>Fixed-size arrays store Patient objects while the program is running.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11201400" y="6473880"/>
            <a:ext cx="410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5f6d7c"/>
                </a:solidFill>
                <a:latin typeface="Aptos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822960" y="1554480"/>
            <a:ext cx="10514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100" spc="-1" strike="noStrike">
                <a:solidFill>
                  <a:srgbClr val="162b48"/>
                </a:solidFill>
                <a:latin typeface="Aptos"/>
              </a:rPr>
              <a:t>Hospital object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6"/>
          <p:cNvSpPr/>
          <p:nvPr/>
        </p:nvSpPr>
        <p:spPr>
          <a:xfrm>
            <a:off x="914400" y="2148840"/>
            <a:ext cx="2925360" cy="73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0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1005840" y="2267640"/>
            <a:ext cx="2742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OPD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1005840" y="2541960"/>
            <a:ext cx="2742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5f6d7c"/>
                </a:solidFill>
                <a:latin typeface="Aptos"/>
              </a:rPr>
              <a:t>10 slots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9"/>
          <p:cNvSpPr/>
          <p:nvPr/>
        </p:nvSpPr>
        <p:spPr>
          <a:xfrm>
            <a:off x="102420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3069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ounded Rectangle 10"/>
          <p:cNvSpPr/>
          <p:nvPr/>
        </p:nvSpPr>
        <p:spPr>
          <a:xfrm>
            <a:off x="147204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ounded Rectangle 11"/>
          <p:cNvSpPr/>
          <p:nvPr/>
        </p:nvSpPr>
        <p:spPr>
          <a:xfrm>
            <a:off x="192024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ounded Rectangle 12"/>
          <p:cNvSpPr/>
          <p:nvPr/>
        </p:nvSpPr>
        <p:spPr>
          <a:xfrm>
            <a:off x="236844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3069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ounded Rectangle 13"/>
          <p:cNvSpPr/>
          <p:nvPr/>
        </p:nvSpPr>
        <p:spPr>
          <a:xfrm>
            <a:off x="281628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ounded Rectangle 14"/>
          <p:cNvSpPr/>
          <p:nvPr/>
        </p:nvSpPr>
        <p:spPr>
          <a:xfrm>
            <a:off x="326448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15"/>
          <p:cNvSpPr/>
          <p:nvPr/>
        </p:nvSpPr>
        <p:spPr>
          <a:xfrm>
            <a:off x="960120" y="3749040"/>
            <a:ext cx="2833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5f6d7c"/>
                </a:solidFill>
                <a:latin typeface="Aptos"/>
              </a:rPr>
              <a:t>Occupied / free slots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16"/>
          <p:cNvSpPr/>
          <p:nvPr/>
        </p:nvSpPr>
        <p:spPr>
          <a:xfrm>
            <a:off x="4434840" y="2148840"/>
            <a:ext cx="2925360" cy="73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e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4526280" y="2267640"/>
            <a:ext cx="2742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ICU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8"/>
          <p:cNvSpPr/>
          <p:nvPr/>
        </p:nvSpPr>
        <p:spPr>
          <a:xfrm>
            <a:off x="4526280" y="2541960"/>
            <a:ext cx="2742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5f6d7c"/>
                </a:solidFill>
                <a:latin typeface="Aptos"/>
              </a:rPr>
              <a:t>10 slots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19"/>
          <p:cNvSpPr/>
          <p:nvPr/>
        </p:nvSpPr>
        <p:spPr>
          <a:xfrm>
            <a:off x="454464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ounded Rectangle 20"/>
          <p:cNvSpPr/>
          <p:nvPr/>
        </p:nvSpPr>
        <p:spPr>
          <a:xfrm>
            <a:off x="499248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1e9191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ounded Rectangle 21"/>
          <p:cNvSpPr/>
          <p:nvPr/>
        </p:nvSpPr>
        <p:spPr>
          <a:xfrm>
            <a:off x="544068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ounded Rectangle 22"/>
          <p:cNvSpPr/>
          <p:nvPr/>
        </p:nvSpPr>
        <p:spPr>
          <a:xfrm>
            <a:off x="588888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Rounded Rectangle 23"/>
          <p:cNvSpPr/>
          <p:nvPr/>
        </p:nvSpPr>
        <p:spPr>
          <a:xfrm>
            <a:off x="633672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ounded Rectangle 24"/>
          <p:cNvSpPr/>
          <p:nvPr/>
        </p:nvSpPr>
        <p:spPr>
          <a:xfrm>
            <a:off x="678492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1e9191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25"/>
          <p:cNvSpPr/>
          <p:nvPr/>
        </p:nvSpPr>
        <p:spPr>
          <a:xfrm>
            <a:off x="4480560" y="3749040"/>
            <a:ext cx="2833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5f6d7c"/>
                </a:solidFill>
                <a:latin typeface="Aptos"/>
              </a:rPr>
              <a:t>Occupied / free slots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26"/>
          <p:cNvSpPr/>
          <p:nvPr/>
        </p:nvSpPr>
        <p:spPr>
          <a:xfrm>
            <a:off x="7955280" y="2148840"/>
            <a:ext cx="2925360" cy="73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eb8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27"/>
          <p:cNvSpPr/>
          <p:nvPr/>
        </p:nvSpPr>
        <p:spPr>
          <a:xfrm>
            <a:off x="8046720" y="2267640"/>
            <a:ext cx="2742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General Ward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8"/>
          <p:cNvSpPr/>
          <p:nvPr/>
        </p:nvSpPr>
        <p:spPr>
          <a:xfrm>
            <a:off x="8046720" y="2541960"/>
            <a:ext cx="2742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5f6d7c"/>
                </a:solidFill>
                <a:latin typeface="Aptos"/>
              </a:rPr>
              <a:t>20 slots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29"/>
          <p:cNvSpPr/>
          <p:nvPr/>
        </p:nvSpPr>
        <p:spPr>
          <a:xfrm>
            <a:off x="806508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eeb84b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ounded Rectangle 30"/>
          <p:cNvSpPr/>
          <p:nvPr/>
        </p:nvSpPr>
        <p:spPr>
          <a:xfrm>
            <a:off x="851292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ounded Rectangle 31"/>
          <p:cNvSpPr/>
          <p:nvPr/>
        </p:nvSpPr>
        <p:spPr>
          <a:xfrm>
            <a:off x="896112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ounded Rectangle 32"/>
          <p:cNvSpPr/>
          <p:nvPr/>
        </p:nvSpPr>
        <p:spPr>
          <a:xfrm>
            <a:off x="940932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ounded Rectangle 33"/>
          <p:cNvSpPr/>
          <p:nvPr/>
        </p:nvSpPr>
        <p:spPr>
          <a:xfrm>
            <a:off x="985716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eeb84b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ounded Rectangle 34"/>
          <p:cNvSpPr/>
          <p:nvPr/>
        </p:nvSpPr>
        <p:spPr>
          <a:xfrm>
            <a:off x="10305360" y="3154680"/>
            <a:ext cx="365040" cy="502200"/>
          </a:xfrm>
          <a:prstGeom prst="roundRect">
            <a:avLst>
              <a:gd name="adj" fmla="val 16667"/>
            </a:avLst>
          </a:prstGeom>
          <a:solidFill>
            <a:srgbClr val="dbe9f6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35"/>
          <p:cNvSpPr/>
          <p:nvPr/>
        </p:nvSpPr>
        <p:spPr>
          <a:xfrm>
            <a:off x="8001000" y="3749040"/>
            <a:ext cx="2833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5f6d7c"/>
                </a:solidFill>
                <a:latin typeface="Aptos"/>
              </a:rPr>
              <a:t>Occupied / free slots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36"/>
          <p:cNvSpPr/>
          <p:nvPr/>
        </p:nvSpPr>
        <p:spPr>
          <a:xfrm>
            <a:off x="914400" y="4434840"/>
            <a:ext cx="4754160" cy="1233720"/>
          </a:xfrm>
          <a:prstGeom prst="roundRect">
            <a:avLst>
              <a:gd name="adj" fmla="val 16667"/>
            </a:avLst>
          </a:prstGeom>
          <a:solidFill>
            <a:srgbClr val="dcf2f0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ectangle 37"/>
          <p:cNvSpPr/>
          <p:nvPr/>
        </p:nvSpPr>
        <p:spPr>
          <a:xfrm>
            <a:off x="914400" y="4480560"/>
            <a:ext cx="72360" cy="114228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38"/>
          <p:cNvSpPr/>
          <p:nvPr/>
        </p:nvSpPr>
        <p:spPr>
          <a:xfrm>
            <a:off x="1115640" y="4599360"/>
            <a:ext cx="4370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700" spc="-1" strike="noStrike">
                <a:solidFill>
                  <a:srgbClr val="162b48"/>
                </a:solidFill>
                <a:latin typeface="Aptos"/>
              </a:rPr>
              <a:t>Occupancy flag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39"/>
          <p:cNvSpPr/>
          <p:nvPr/>
        </p:nvSpPr>
        <p:spPr>
          <a:xfrm>
            <a:off x="1115640" y="5001840"/>
            <a:ext cx="437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2c3744"/>
                </a:solidFill>
                <a:latin typeface="Aptos"/>
              </a:rPr>
              <a:t>`occupied = 1` → occupied     `occupied = 0` → free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40"/>
          <p:cNvSpPr/>
          <p:nvPr/>
        </p:nvSpPr>
        <p:spPr>
          <a:xfrm>
            <a:off x="6400800" y="4434840"/>
            <a:ext cx="47541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ectangle 41"/>
          <p:cNvSpPr/>
          <p:nvPr/>
        </p:nvSpPr>
        <p:spPr>
          <a:xfrm>
            <a:off x="6400800" y="4480560"/>
            <a:ext cx="72360" cy="1142280"/>
          </a:xfrm>
          <a:prstGeom prst="rect">
            <a:avLst/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42"/>
          <p:cNvSpPr/>
          <p:nvPr/>
        </p:nvSpPr>
        <p:spPr>
          <a:xfrm>
            <a:off x="6602040" y="4599360"/>
            <a:ext cx="4370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700" spc="-1" strike="noStrike">
                <a:solidFill>
                  <a:srgbClr val="162b48"/>
                </a:solidFill>
                <a:latin typeface="Aptos"/>
              </a:rPr>
              <a:t>Storage behavior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43"/>
          <p:cNvSpPr/>
          <p:nvPr/>
        </p:nvSpPr>
        <p:spPr>
          <a:xfrm>
            <a:off x="6602040" y="5001840"/>
            <a:ext cx="4370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2c3744"/>
                </a:solidFill>
                <a:latin typeface="Aptos"/>
              </a:rPr>
              <a:t>Data is in memory only; changes are lost when the program exits.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640080" y="320040"/>
            <a:ext cx="10880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800" spc="-1" strike="noStrike">
                <a:solidFill>
                  <a:srgbClr val="162b48"/>
                </a:solidFill>
                <a:latin typeface="Aptos"/>
              </a:rPr>
              <a:t>Core Workflows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2"/>
          <p:cNvSpPr/>
          <p:nvPr/>
        </p:nvSpPr>
        <p:spPr>
          <a:xfrm>
            <a:off x="658440" y="932760"/>
            <a:ext cx="822240" cy="5400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658440" y="1051560"/>
            <a:ext cx="1078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5f6d7c"/>
                </a:solidFill>
                <a:latin typeface="Aptos"/>
              </a:rPr>
              <a:t>Admission, discharge and patient lookup all operate on the facility arrays.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11201400" y="6473880"/>
            <a:ext cx="410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5f6d7c"/>
                </a:solidFill>
                <a:latin typeface="Aptos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5"/>
          <p:cNvSpPr/>
          <p:nvPr/>
        </p:nvSpPr>
        <p:spPr>
          <a:xfrm>
            <a:off x="685800" y="1691640"/>
            <a:ext cx="3245400" cy="342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ectangle 6"/>
          <p:cNvSpPr/>
          <p:nvPr/>
        </p:nvSpPr>
        <p:spPr>
          <a:xfrm>
            <a:off x="685800" y="1737360"/>
            <a:ext cx="72360" cy="3336840"/>
          </a:xfrm>
          <a:prstGeom prst="rect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887040" y="1856160"/>
            <a:ext cx="2861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1. Admit patient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887040" y="2258640"/>
            <a:ext cx="286128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Choose facility → choose bed → validate range and availability → enter patient details → set occupied =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9"/>
          <p:cNvSpPr/>
          <p:nvPr/>
        </p:nvSpPr>
        <p:spPr>
          <a:xfrm>
            <a:off x="4480560" y="1691640"/>
            <a:ext cx="3245400" cy="342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ectangle 10"/>
          <p:cNvSpPr/>
          <p:nvPr/>
        </p:nvSpPr>
        <p:spPr>
          <a:xfrm>
            <a:off x="4480560" y="1737360"/>
            <a:ext cx="72360" cy="333684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4681800" y="1856160"/>
            <a:ext cx="2861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2. Discharge patient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4681800" y="2258640"/>
            <a:ext cx="286128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Choose facility → choose bed → validate bed and status → display confirmation → set occupied = 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ounded Rectangle 13"/>
          <p:cNvSpPr/>
          <p:nvPr/>
        </p:nvSpPr>
        <p:spPr>
          <a:xfrm>
            <a:off x="8275320" y="1691640"/>
            <a:ext cx="3245400" cy="342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ectangle 14"/>
          <p:cNvSpPr/>
          <p:nvPr/>
        </p:nvSpPr>
        <p:spPr>
          <a:xfrm>
            <a:off x="8275320" y="1737360"/>
            <a:ext cx="72360" cy="3336840"/>
          </a:xfrm>
          <a:prstGeom prst="rect">
            <a:avLst/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8476560" y="1856160"/>
            <a:ext cx="2861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162b48"/>
                </a:solidFill>
                <a:latin typeface="Aptos"/>
              </a:rPr>
              <a:t>3. Patient summary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6"/>
          <p:cNvSpPr/>
          <p:nvPr/>
        </p:nvSpPr>
        <p:spPr>
          <a:xfrm>
            <a:off x="8476560" y="2258640"/>
            <a:ext cx="286128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2c3744"/>
                </a:solidFill>
                <a:latin typeface="Aptos"/>
              </a:rPr>
              <a:t>Enter Patient ID → search OPD, ICU and General Ward → print details if an occupied match is found.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914400" y="5532120"/>
            <a:ext cx="103320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900" spc="-1" strike="noStrike">
                <a:solidFill>
                  <a:srgbClr val="162b48"/>
                </a:solidFill>
                <a:latin typeface="Aptos"/>
              </a:rPr>
              <a:t>After each operation, the program returns to the main menu.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640080" y="320040"/>
            <a:ext cx="10880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800" spc="-1" strike="noStrike">
                <a:solidFill>
                  <a:srgbClr val="162b48"/>
                </a:solidFill>
                <a:latin typeface="Aptos"/>
              </a:rPr>
              <a:t>Data Pipeline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2"/>
          <p:cNvSpPr/>
          <p:nvPr/>
        </p:nvSpPr>
        <p:spPr>
          <a:xfrm>
            <a:off x="658440" y="932760"/>
            <a:ext cx="822240" cy="5400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658440" y="1051560"/>
            <a:ext cx="1078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5f6d7c"/>
                </a:solidFill>
                <a:latin typeface="Aptos"/>
              </a:rPr>
              <a:t>How information travels through the program.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11201400" y="6473880"/>
            <a:ext cx="410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5f6d7c"/>
                </a:solidFill>
                <a:latin typeface="Aptos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Oval 5"/>
          <p:cNvSpPr/>
          <p:nvPr/>
        </p:nvSpPr>
        <p:spPr>
          <a:xfrm>
            <a:off x="1129320" y="1874520"/>
            <a:ext cx="438120" cy="438120"/>
          </a:xfrm>
          <a:prstGeom prst="ellipse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1129320" y="1947600"/>
            <a:ext cx="43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640080" y="2514600"/>
            <a:ext cx="1416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162b48"/>
                </a:solidFill>
                <a:latin typeface="Aptos"/>
              </a:rPr>
              <a:t>Start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640080" y="2971800"/>
            <a:ext cx="1416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2c3744"/>
                </a:solidFill>
                <a:latin typeface="Aptos"/>
              </a:rPr>
              <a:t>Create Hospital object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Chevron 9"/>
          <p:cNvSpPr/>
          <p:nvPr/>
        </p:nvSpPr>
        <p:spPr>
          <a:xfrm>
            <a:off x="2084760" y="1974960"/>
            <a:ext cx="255240" cy="218880"/>
          </a:xfrm>
          <a:prstGeom prst="chevron">
            <a:avLst>
              <a:gd name="adj" fmla="val 50000"/>
            </a:avLst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Oval 10"/>
          <p:cNvSpPr/>
          <p:nvPr/>
        </p:nvSpPr>
        <p:spPr>
          <a:xfrm>
            <a:off x="2820960" y="1874520"/>
            <a:ext cx="438120" cy="43812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2820960" y="1947600"/>
            <a:ext cx="43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2"/>
          <p:cNvSpPr/>
          <p:nvPr/>
        </p:nvSpPr>
        <p:spPr>
          <a:xfrm>
            <a:off x="2331720" y="2514600"/>
            <a:ext cx="1416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162b48"/>
                </a:solidFill>
                <a:latin typeface="Aptos"/>
              </a:rPr>
              <a:t>Initialize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3"/>
          <p:cNvSpPr/>
          <p:nvPr/>
        </p:nvSpPr>
        <p:spPr>
          <a:xfrm>
            <a:off x="2331720" y="2971800"/>
            <a:ext cx="1416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2c3744"/>
                </a:solidFill>
                <a:latin typeface="Aptos"/>
              </a:rPr>
              <a:t>Set capacities + load dummy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Chevron 14"/>
          <p:cNvSpPr/>
          <p:nvPr/>
        </p:nvSpPr>
        <p:spPr>
          <a:xfrm>
            <a:off x="3776400" y="1974960"/>
            <a:ext cx="255240" cy="218880"/>
          </a:xfrm>
          <a:prstGeom prst="chevron">
            <a:avLst>
              <a:gd name="adj" fmla="val 50000"/>
            </a:avLst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Oval 15"/>
          <p:cNvSpPr/>
          <p:nvPr/>
        </p:nvSpPr>
        <p:spPr>
          <a:xfrm>
            <a:off x="4512600" y="1874520"/>
            <a:ext cx="438120" cy="438120"/>
          </a:xfrm>
          <a:prstGeom prst="ellipse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16"/>
          <p:cNvSpPr/>
          <p:nvPr/>
        </p:nvSpPr>
        <p:spPr>
          <a:xfrm>
            <a:off x="4512600" y="1947600"/>
            <a:ext cx="43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7"/>
          <p:cNvSpPr/>
          <p:nvPr/>
        </p:nvSpPr>
        <p:spPr>
          <a:xfrm>
            <a:off x="4023360" y="2514600"/>
            <a:ext cx="1416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162b48"/>
                </a:solidFill>
                <a:latin typeface="Aptos"/>
              </a:rPr>
              <a:t>Menu input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8"/>
          <p:cNvSpPr/>
          <p:nvPr/>
        </p:nvSpPr>
        <p:spPr>
          <a:xfrm>
            <a:off x="4023360" y="2971800"/>
            <a:ext cx="1416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2c3744"/>
                </a:solidFill>
                <a:latin typeface="Aptos"/>
              </a:rPr>
              <a:t>Read selection with scanf()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Chevron 19"/>
          <p:cNvSpPr/>
          <p:nvPr/>
        </p:nvSpPr>
        <p:spPr>
          <a:xfrm>
            <a:off x="5468040" y="1974960"/>
            <a:ext cx="255240" cy="218880"/>
          </a:xfrm>
          <a:prstGeom prst="chevron">
            <a:avLst>
              <a:gd name="adj" fmla="val 50000"/>
            </a:avLst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Oval 20"/>
          <p:cNvSpPr/>
          <p:nvPr/>
        </p:nvSpPr>
        <p:spPr>
          <a:xfrm>
            <a:off x="6204240" y="1874520"/>
            <a:ext cx="438120" cy="43812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21"/>
          <p:cNvSpPr/>
          <p:nvPr/>
        </p:nvSpPr>
        <p:spPr>
          <a:xfrm>
            <a:off x="6204240" y="1947600"/>
            <a:ext cx="43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22"/>
          <p:cNvSpPr/>
          <p:nvPr/>
        </p:nvSpPr>
        <p:spPr>
          <a:xfrm>
            <a:off x="5715000" y="2514600"/>
            <a:ext cx="1416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162b48"/>
                </a:solidFill>
                <a:latin typeface="Aptos"/>
              </a:rPr>
              <a:t>Validate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3"/>
          <p:cNvSpPr/>
          <p:nvPr/>
        </p:nvSpPr>
        <p:spPr>
          <a:xfrm>
            <a:off x="5715000" y="2971800"/>
            <a:ext cx="1416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2c3744"/>
                </a:solidFill>
                <a:latin typeface="Aptos"/>
              </a:rPr>
              <a:t>Check facility, bed and occupancy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Chevron 24"/>
          <p:cNvSpPr/>
          <p:nvPr/>
        </p:nvSpPr>
        <p:spPr>
          <a:xfrm>
            <a:off x="7159680" y="1974960"/>
            <a:ext cx="255240" cy="218880"/>
          </a:xfrm>
          <a:prstGeom prst="chevron">
            <a:avLst>
              <a:gd name="adj" fmla="val 50000"/>
            </a:avLst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Oval 25"/>
          <p:cNvSpPr/>
          <p:nvPr/>
        </p:nvSpPr>
        <p:spPr>
          <a:xfrm>
            <a:off x="7895880" y="1874520"/>
            <a:ext cx="438120" cy="438120"/>
          </a:xfrm>
          <a:prstGeom prst="ellipse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26"/>
          <p:cNvSpPr/>
          <p:nvPr/>
        </p:nvSpPr>
        <p:spPr>
          <a:xfrm>
            <a:off x="7895880" y="1947600"/>
            <a:ext cx="43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27"/>
          <p:cNvSpPr/>
          <p:nvPr/>
        </p:nvSpPr>
        <p:spPr>
          <a:xfrm>
            <a:off x="7406640" y="2514600"/>
            <a:ext cx="1416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162b48"/>
                </a:solidFill>
                <a:latin typeface="Aptos"/>
              </a:rPr>
              <a:t>Process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28"/>
          <p:cNvSpPr/>
          <p:nvPr/>
        </p:nvSpPr>
        <p:spPr>
          <a:xfrm>
            <a:off x="7406640" y="2971800"/>
            <a:ext cx="1416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2c3744"/>
                </a:solidFill>
                <a:latin typeface="Aptos"/>
              </a:rPr>
              <a:t>Update or read Patient arrays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Chevron 29"/>
          <p:cNvSpPr/>
          <p:nvPr/>
        </p:nvSpPr>
        <p:spPr>
          <a:xfrm>
            <a:off x="8851320" y="1974960"/>
            <a:ext cx="255240" cy="218880"/>
          </a:xfrm>
          <a:prstGeom prst="chevron">
            <a:avLst>
              <a:gd name="adj" fmla="val 50000"/>
            </a:avLst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Oval 30"/>
          <p:cNvSpPr/>
          <p:nvPr/>
        </p:nvSpPr>
        <p:spPr>
          <a:xfrm>
            <a:off x="9358920" y="1874520"/>
            <a:ext cx="438120" cy="43812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31"/>
          <p:cNvSpPr/>
          <p:nvPr/>
        </p:nvSpPr>
        <p:spPr>
          <a:xfrm>
            <a:off x="9358920" y="1947600"/>
            <a:ext cx="43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2"/>
          <p:cNvSpPr/>
          <p:nvPr/>
        </p:nvSpPr>
        <p:spPr>
          <a:xfrm>
            <a:off x="9098280" y="2514600"/>
            <a:ext cx="959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162b48"/>
                </a:solidFill>
                <a:latin typeface="Aptos"/>
              </a:rPr>
              <a:t>Output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33"/>
          <p:cNvSpPr/>
          <p:nvPr/>
        </p:nvSpPr>
        <p:spPr>
          <a:xfrm>
            <a:off x="9098280" y="2971800"/>
            <a:ext cx="9594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2c3744"/>
                </a:solidFill>
                <a:latin typeface="Aptos"/>
              </a:rPr>
              <a:t>Print status with printf()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Chevron 34"/>
          <p:cNvSpPr/>
          <p:nvPr/>
        </p:nvSpPr>
        <p:spPr>
          <a:xfrm>
            <a:off x="10085760" y="1974960"/>
            <a:ext cx="255240" cy="218880"/>
          </a:xfrm>
          <a:prstGeom prst="chevron">
            <a:avLst>
              <a:gd name="adj" fmla="val 50000"/>
            </a:avLst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Oval 35"/>
          <p:cNvSpPr/>
          <p:nvPr/>
        </p:nvSpPr>
        <p:spPr>
          <a:xfrm>
            <a:off x="10661760" y="1874520"/>
            <a:ext cx="438120" cy="438120"/>
          </a:xfrm>
          <a:prstGeom prst="ellipse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36"/>
          <p:cNvSpPr/>
          <p:nvPr/>
        </p:nvSpPr>
        <p:spPr>
          <a:xfrm>
            <a:off x="10661760" y="1947600"/>
            <a:ext cx="43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7"/>
          <p:cNvSpPr/>
          <p:nvPr/>
        </p:nvSpPr>
        <p:spPr>
          <a:xfrm>
            <a:off x="10241280" y="2514600"/>
            <a:ext cx="127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162b48"/>
                </a:solidFill>
                <a:latin typeface="Aptos"/>
              </a:rPr>
              <a:t>Repeat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38"/>
          <p:cNvSpPr/>
          <p:nvPr/>
        </p:nvSpPr>
        <p:spPr>
          <a:xfrm>
            <a:off x="10241280" y="2971800"/>
            <a:ext cx="1279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2c3744"/>
                </a:solidFill>
                <a:latin typeface="Aptos"/>
              </a:rPr>
              <a:t>Return to menu until Exit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39"/>
          <p:cNvSpPr/>
          <p:nvPr/>
        </p:nvSpPr>
        <p:spPr>
          <a:xfrm>
            <a:off x="1051560" y="4709160"/>
            <a:ext cx="1005768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Rectangle 40"/>
          <p:cNvSpPr/>
          <p:nvPr/>
        </p:nvSpPr>
        <p:spPr>
          <a:xfrm>
            <a:off x="1051560" y="4754880"/>
            <a:ext cx="72360" cy="82224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41"/>
          <p:cNvSpPr/>
          <p:nvPr/>
        </p:nvSpPr>
        <p:spPr>
          <a:xfrm>
            <a:off x="1252800" y="4873680"/>
            <a:ext cx="9673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700" spc="-1" strike="noStrike">
                <a:solidFill>
                  <a:srgbClr val="162b48"/>
                </a:solidFill>
                <a:latin typeface="Aptos"/>
              </a:rPr>
              <a:t>Key idea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42"/>
          <p:cNvSpPr/>
          <p:nvPr/>
        </p:nvSpPr>
        <p:spPr>
          <a:xfrm>
            <a:off x="1252800" y="5276160"/>
            <a:ext cx="967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2c3744"/>
                </a:solidFill>
                <a:latin typeface="Aptos"/>
              </a:rPr>
              <a:t>Admission changes data; display and summary methods read the current arrays and calculate bed counts.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640080" y="320040"/>
            <a:ext cx="10880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800" spc="-1" strike="noStrike">
                <a:solidFill>
                  <a:srgbClr val="162b48"/>
                </a:solidFill>
                <a:latin typeface="Aptos"/>
              </a:rPr>
              <a:t>Menu System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2"/>
          <p:cNvSpPr/>
          <p:nvPr/>
        </p:nvSpPr>
        <p:spPr>
          <a:xfrm>
            <a:off x="658440" y="932760"/>
            <a:ext cx="822240" cy="5400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658440" y="1051560"/>
            <a:ext cx="1078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5f6d7c"/>
                </a:solidFill>
                <a:latin typeface="Aptos"/>
              </a:rPr>
              <a:t>A do-while loop and switch statement keep the application interactive.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4"/>
          <p:cNvSpPr/>
          <p:nvPr/>
        </p:nvSpPr>
        <p:spPr>
          <a:xfrm>
            <a:off x="11201400" y="6473880"/>
            <a:ext cx="410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5f6d7c"/>
                </a:solidFill>
                <a:latin typeface="Aptos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Oval 5"/>
          <p:cNvSpPr/>
          <p:nvPr/>
        </p:nvSpPr>
        <p:spPr>
          <a:xfrm>
            <a:off x="914400" y="1645920"/>
            <a:ext cx="474840" cy="47484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914400" y="1737360"/>
            <a:ext cx="47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7"/>
          <p:cNvSpPr/>
          <p:nvPr/>
        </p:nvSpPr>
        <p:spPr>
          <a:xfrm>
            <a:off x="1600200" y="1719000"/>
            <a:ext cx="4388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162b48"/>
                </a:solidFill>
                <a:latin typeface="Aptos"/>
              </a:rPr>
              <a:t>Admit Patient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Oval 8"/>
          <p:cNvSpPr/>
          <p:nvPr/>
        </p:nvSpPr>
        <p:spPr>
          <a:xfrm>
            <a:off x="914400" y="2606040"/>
            <a:ext cx="474840" cy="47484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9"/>
          <p:cNvSpPr/>
          <p:nvPr/>
        </p:nvSpPr>
        <p:spPr>
          <a:xfrm>
            <a:off x="914400" y="2697480"/>
            <a:ext cx="47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10"/>
          <p:cNvSpPr/>
          <p:nvPr/>
        </p:nvSpPr>
        <p:spPr>
          <a:xfrm>
            <a:off x="1600200" y="2679120"/>
            <a:ext cx="4388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162b48"/>
                </a:solidFill>
                <a:latin typeface="Aptos"/>
              </a:rPr>
              <a:t>Discharge Patient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Oval 11"/>
          <p:cNvSpPr/>
          <p:nvPr/>
        </p:nvSpPr>
        <p:spPr>
          <a:xfrm>
            <a:off x="914400" y="3566160"/>
            <a:ext cx="474840" cy="47484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12"/>
          <p:cNvSpPr/>
          <p:nvPr/>
        </p:nvSpPr>
        <p:spPr>
          <a:xfrm>
            <a:off x="914400" y="3657600"/>
            <a:ext cx="47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13"/>
          <p:cNvSpPr/>
          <p:nvPr/>
        </p:nvSpPr>
        <p:spPr>
          <a:xfrm>
            <a:off x="1600200" y="3639240"/>
            <a:ext cx="4388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162b48"/>
                </a:solidFill>
                <a:latin typeface="Aptos"/>
              </a:rPr>
              <a:t>Display OPD Beds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Oval 14"/>
          <p:cNvSpPr/>
          <p:nvPr/>
        </p:nvSpPr>
        <p:spPr>
          <a:xfrm>
            <a:off x="914400" y="4526280"/>
            <a:ext cx="474840" cy="47484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5"/>
          <p:cNvSpPr/>
          <p:nvPr/>
        </p:nvSpPr>
        <p:spPr>
          <a:xfrm>
            <a:off x="914400" y="4617720"/>
            <a:ext cx="47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6"/>
          <p:cNvSpPr/>
          <p:nvPr/>
        </p:nvSpPr>
        <p:spPr>
          <a:xfrm>
            <a:off x="1600200" y="4599360"/>
            <a:ext cx="4388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162b48"/>
                </a:solidFill>
                <a:latin typeface="Aptos"/>
              </a:rPr>
              <a:t>Display ICU Beds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Oval 17"/>
          <p:cNvSpPr/>
          <p:nvPr/>
        </p:nvSpPr>
        <p:spPr>
          <a:xfrm>
            <a:off x="6400800" y="1645920"/>
            <a:ext cx="474840" cy="47484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18"/>
          <p:cNvSpPr/>
          <p:nvPr/>
        </p:nvSpPr>
        <p:spPr>
          <a:xfrm>
            <a:off x="6400800" y="1737360"/>
            <a:ext cx="47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19"/>
          <p:cNvSpPr/>
          <p:nvPr/>
        </p:nvSpPr>
        <p:spPr>
          <a:xfrm>
            <a:off x="7086600" y="1719000"/>
            <a:ext cx="4388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162b48"/>
                </a:solidFill>
                <a:latin typeface="Aptos"/>
              </a:rPr>
              <a:t>Display General Ward Beds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Oval 20"/>
          <p:cNvSpPr/>
          <p:nvPr/>
        </p:nvSpPr>
        <p:spPr>
          <a:xfrm>
            <a:off x="6400800" y="2606040"/>
            <a:ext cx="474840" cy="47484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21"/>
          <p:cNvSpPr/>
          <p:nvPr/>
        </p:nvSpPr>
        <p:spPr>
          <a:xfrm>
            <a:off x="6400800" y="2697480"/>
            <a:ext cx="47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22"/>
          <p:cNvSpPr/>
          <p:nvPr/>
        </p:nvSpPr>
        <p:spPr>
          <a:xfrm>
            <a:off x="7086600" y="2679120"/>
            <a:ext cx="4388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162b48"/>
                </a:solidFill>
                <a:latin typeface="Aptos"/>
              </a:rPr>
              <a:t>Hospital Summary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Oval 23"/>
          <p:cNvSpPr/>
          <p:nvPr/>
        </p:nvSpPr>
        <p:spPr>
          <a:xfrm>
            <a:off x="6400800" y="3566160"/>
            <a:ext cx="474840" cy="47484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24"/>
          <p:cNvSpPr/>
          <p:nvPr/>
        </p:nvSpPr>
        <p:spPr>
          <a:xfrm>
            <a:off x="6400800" y="3657600"/>
            <a:ext cx="47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25"/>
          <p:cNvSpPr/>
          <p:nvPr/>
        </p:nvSpPr>
        <p:spPr>
          <a:xfrm>
            <a:off x="7086600" y="3639240"/>
            <a:ext cx="4388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162b48"/>
                </a:solidFill>
                <a:latin typeface="Aptos"/>
              </a:rPr>
              <a:t>View Patient Summary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Oval 26"/>
          <p:cNvSpPr/>
          <p:nvPr/>
        </p:nvSpPr>
        <p:spPr>
          <a:xfrm>
            <a:off x="6400800" y="4526280"/>
            <a:ext cx="474840" cy="474840"/>
          </a:xfrm>
          <a:prstGeom prst="ellipse">
            <a:avLst/>
          </a:prstGeom>
          <a:solidFill>
            <a:srgbClr val="eeb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27"/>
          <p:cNvSpPr/>
          <p:nvPr/>
        </p:nvSpPr>
        <p:spPr>
          <a:xfrm>
            <a:off x="6400800" y="4617720"/>
            <a:ext cx="47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162b48"/>
                </a:solidFill>
                <a:latin typeface="Aptos"/>
              </a:rPr>
              <a:t>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28"/>
          <p:cNvSpPr/>
          <p:nvPr/>
        </p:nvSpPr>
        <p:spPr>
          <a:xfrm>
            <a:off x="7086600" y="4599360"/>
            <a:ext cx="4388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700" spc="-1" strike="noStrike">
                <a:solidFill>
                  <a:srgbClr val="162b48"/>
                </a:solidFill>
                <a:latin typeface="Aptos"/>
              </a:rPr>
              <a:t>Exit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ounded Rectangle 29"/>
          <p:cNvSpPr/>
          <p:nvPr/>
        </p:nvSpPr>
        <p:spPr>
          <a:xfrm>
            <a:off x="914400" y="5623560"/>
            <a:ext cx="10240560" cy="639360"/>
          </a:xfrm>
          <a:prstGeom prst="roundRect">
            <a:avLst>
              <a:gd name="adj" fmla="val 16667"/>
            </a:avLst>
          </a:prstGeom>
          <a:solidFill>
            <a:srgbClr val="dcf2f0"/>
          </a:solidFill>
          <a:ln>
            <a:solidFill>
              <a:srgbClr val="dbe9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ectangle 30"/>
          <p:cNvSpPr/>
          <p:nvPr/>
        </p:nvSpPr>
        <p:spPr>
          <a:xfrm>
            <a:off x="914400" y="5669280"/>
            <a:ext cx="72360" cy="54792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31"/>
          <p:cNvSpPr/>
          <p:nvPr/>
        </p:nvSpPr>
        <p:spPr>
          <a:xfrm>
            <a:off x="1115640" y="5788080"/>
            <a:ext cx="9856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pc="-1" strike="noStrike">
                <a:solidFill>
                  <a:srgbClr val="162b48"/>
                </a:solidFill>
                <a:latin typeface="Aptos"/>
              </a:rPr>
              <a:t>Control flow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32"/>
          <p:cNvSpPr/>
          <p:nvPr/>
        </p:nvSpPr>
        <p:spPr>
          <a:xfrm>
            <a:off x="1115640" y="5990760"/>
            <a:ext cx="9856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2c3744"/>
                </a:solidFill>
                <a:latin typeface="Aptos"/>
              </a:rPr>
              <a:t>The selected menu number routes to a method; option 8 ends the loop and exits.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Oval 2"/>
          <p:cNvSpPr/>
          <p:nvPr/>
        </p:nvSpPr>
        <p:spPr>
          <a:xfrm>
            <a:off x="9052560" y="-731520"/>
            <a:ext cx="3656880" cy="3656880"/>
          </a:xfrm>
          <a:prstGeom prst="ellipse">
            <a:avLst/>
          </a:prstGeom>
          <a:solidFill>
            <a:srgbClr val="30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Oval 3"/>
          <p:cNvSpPr/>
          <p:nvPr/>
        </p:nvSpPr>
        <p:spPr>
          <a:xfrm>
            <a:off x="9692640" y="4389120"/>
            <a:ext cx="2833920" cy="2833920"/>
          </a:xfrm>
          <a:prstGeom prst="ellipse">
            <a:avLst/>
          </a:prstGeom>
          <a:solidFill>
            <a:srgbClr val="1e91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914400" y="2148840"/>
            <a:ext cx="77716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ptos"/>
              </a:rPr>
              <a:t>Thank You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5"/>
          <p:cNvSpPr/>
          <p:nvPr/>
        </p:nvSpPr>
        <p:spPr>
          <a:xfrm>
            <a:off x="960120" y="3154680"/>
            <a:ext cx="7314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2200" spc="-1" strike="noStrike">
                <a:solidFill>
                  <a:srgbClr val="dbe9f6"/>
                </a:solidFill>
                <a:latin typeface="Aptos"/>
              </a:rPr>
              <a:t>Hospital Management System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960120" y="3840480"/>
            <a:ext cx="7314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pc="-1" strike="noStrike">
                <a:solidFill>
                  <a:srgbClr val="eeb84b"/>
                </a:solidFill>
                <a:latin typeface="Aptos"/>
              </a:rPr>
              <a:t>Parth Shah (25EC464)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2026-10-22T13:47:43Z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